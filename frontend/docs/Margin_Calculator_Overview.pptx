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668F96D3-E7C1-A244-67C6-8232B7BE1523}">
          <p14:sldIdLst>
            <p14:sldId id="256"/>
            <p14:sldId id="257"/>
            <p14:sldId id="258"/>
          </p14:sldIdLst>
        </p14:section>
        <p14:section name="Features" id="{3733CCAB-FB4D-CF10-742F-28CC409716D6}">
          <p14:sldIdLst>
            <p14:sldId id="259"/>
            <p14:sldId id="260"/>
          </p14:sldIdLst>
        </p14:section>
        <p14:section name="Governance and build" id="{6059C512-AF06-D3C8-DEBC-73378159011C}">
          <p14:sldIdLst>
            <p14:sldId id="261"/>
            <p14:sldId id="262"/>
          </p14:sldIdLst>
        </p14:section>
        <p14:section name="Next steps" id="{9A9A4FF6-9D50-6F53-E75A-A603B6B4A9F7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7" d="100"/>
          <a:sy n="107" d="100"/>
        </p:scale>
        <p:origin x="-30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841ED-0B94-4C7F-A781-EB2431CDD231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33F63E-3C5D-4CCE-ADDA-1126AF6A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170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tool that lets project managers test how rate, cost and experience change margin, and compare before and after scenarios. This deck is a pre-read so you do not need to open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 answers one question. Three inputs per person drive the margin, which rolls up to project and team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margin is a weighted roll-up of revenue and cost. It is not the average of each person's percentage, so higher rates count for more. Colour cut-offs of 20 and 30 percent are placeholders until real targets are agreed.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 person, move Rate, Experience or Genus Cost, and the margin updates live. Genus changes are marked override, and brackets can be set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Scenarios let a manager try changes without losing the original numbers. Insights is available to managers and administrators and includes a target solver capped by the configured maximum uplift.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Managers only ever see their own or shared teams; other teams do not exist for them. Private teams are hidden even from administrators. This is an app-level control: whoever can read the database file can still read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app to deploy: the backend serves the frontend. Margin rules live in calc.py and analysis.py. The frontend has no build step and no external fonts or CDNs, so it works on locked-down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on the roadmap is wired up yet; today there is only a placeholder Assistant tab. The limits on the right are known and 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4937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154680"/>
            <a:ext cx="4663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Margin What-If Calculator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463040" cy="379476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/>
          </p:nvPr>
        </p:nvSpPr>
        <p:spPr>
          <a:xfrm>
            <a:off x="548640" y="12344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Margin What-If Calculator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/>
          </p:nvPr>
        </p:nvSpPr>
        <p:spPr>
          <a:xfrm>
            <a:off x="548640" y="3154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See how rate, cost and experience change margin for each person, project and team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Project overview for project managers</a:t>
            </a:r>
            <a:endParaRPr lang="en-US" sz="1400" dirty="0"/>
          </a:p>
        </p:txBody>
      </p:sp>
      <p:sp>
        <p:nvSpPr>
          <p:cNvPr id="6" name="Revenue bar"/>
          <p:cNvSpPr/>
          <p:nvPr/>
        </p:nvSpPr>
        <p:spPr>
          <a:xfrm>
            <a:off x="5943600" y="1554480"/>
            <a:ext cx="1097280" cy="2377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Cost bar"/>
          <p:cNvSpPr/>
          <p:nvPr/>
        </p:nvSpPr>
        <p:spPr>
          <a:xfrm>
            <a:off x="7315200" y="2468880"/>
            <a:ext cx="1097280" cy="1463040"/>
          </a:xfrm>
          <a:prstGeom prst="rect">
            <a:avLst/>
          </a:prstGeom>
          <a:solidFill>
            <a:schemeClr val="accent4">
              <a:alpha val="45000"/>
            </a:schemeClr>
          </a:solidFill>
          <a:ln/>
        </p:spPr>
      </p:sp>
      <p:sp>
        <p:nvSpPr>
          <p:cNvPr id="8" name="Margin bar"/>
          <p:cNvSpPr/>
          <p:nvPr/>
        </p:nvSpPr>
        <p:spPr>
          <a:xfrm>
            <a:off x="7315200" y="1554480"/>
            <a:ext cx="1097280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0" y="1554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Margin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468880"/>
            <a:ext cx="1097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Cost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Revenue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Cost + margin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it does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One question: how much margin do we keep on each person, each project and the whole team, and what happens if something changes?</a:t>
            </a:r>
            <a:endParaRPr lang="en-US" sz="1800" dirty="0"/>
          </a:p>
        </p:txBody>
      </p:sp>
      <p:sp>
        <p:nvSpPr>
          <p:cNvPr id="5" name="Input card 1"/>
          <p:cNvSpPr/>
          <p:nvPr/>
        </p:nvSpPr>
        <p:spPr>
          <a:xfrm>
            <a:off x="457200" y="2194560"/>
            <a:ext cx="1828800" cy="19202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Rate card circle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Rate card icon" descr="Rate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49174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971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Rate card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2918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What we bill per hour</a:t>
            </a:r>
            <a:endParaRPr lang="en-US" sz="1400" dirty="0"/>
          </a:p>
        </p:txBody>
      </p:sp>
      <p:sp>
        <p:nvSpPr>
          <p:cNvPr id="10" name="Input card 2"/>
          <p:cNvSpPr/>
          <p:nvPr/>
        </p:nvSpPr>
        <p:spPr>
          <a:xfrm>
            <a:off x="2560320" y="2194560"/>
            <a:ext cx="1828800" cy="19202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Experience circle"/>
          <p:cNvSpPr/>
          <p:nvPr/>
        </p:nvSpPr>
        <p:spPr>
          <a:xfrm>
            <a:off x="274320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Experience icon" descr="Experie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249174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743200" y="2971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Experience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2743200" y="32918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Sets the level bracket, from 3-6 to 12-15 years</a:t>
            </a:r>
            <a:endParaRPr lang="en-US" sz="1400" dirty="0"/>
          </a:p>
        </p:txBody>
      </p:sp>
      <p:sp>
        <p:nvSpPr>
          <p:cNvPr id="15" name="Input card 3"/>
          <p:cNvSpPr/>
          <p:nvPr/>
        </p:nvSpPr>
        <p:spPr>
          <a:xfrm>
            <a:off x="4663440" y="2194560"/>
            <a:ext cx="1828800" cy="19202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Genus cost circle"/>
          <p:cNvSpPr/>
          <p:nvPr/>
        </p:nvSpPr>
        <p:spPr>
          <a:xfrm>
            <a:off x="484632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Genus cost icon" descr="Genus co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620" y="249174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46320" y="2971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Genus cost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846320" y="32918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What the person costs us per hour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6583680" y="3017520"/>
            <a:ext cx="365760" cy="36576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1" name="Result card"/>
          <p:cNvSpPr/>
          <p:nvPr/>
        </p:nvSpPr>
        <p:spPr>
          <a:xfrm>
            <a:off x="7086600" y="2194560"/>
            <a:ext cx="160020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269480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Margin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288036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Updates live for each person, project and team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Margin here is rate minus cost, before overheads.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How margin is worked out</a:t>
            </a:r>
            <a:endParaRPr lang="en-US" sz="3600" dirty="0"/>
          </a:p>
        </p:txBody>
      </p:sp>
      <p:sp>
        <p:nvSpPr>
          <p:cNvPr id="4" name="Formula card 1"/>
          <p:cNvSpPr/>
          <p:nvPr/>
        </p:nvSpPr>
        <p:spPr>
          <a:xfrm>
            <a:off x="457200" y="1234440"/>
            <a:ext cx="42976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307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Margin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Rate card − Genus cost</a:t>
            </a:r>
            <a:endParaRPr lang="en-US" sz="1800" dirty="0"/>
          </a:p>
        </p:txBody>
      </p:sp>
      <p:sp>
        <p:nvSpPr>
          <p:cNvPr id="7" name="Formula card 2"/>
          <p:cNvSpPr/>
          <p:nvPr/>
        </p:nvSpPr>
        <p:spPr>
          <a:xfrm>
            <a:off x="457200" y="2121408"/>
            <a:ext cx="42976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Margin %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487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Margin ÷ Rate card × 100</a:t>
            </a:r>
            <a:endParaRPr lang="en-US" sz="1800" dirty="0"/>
          </a:p>
        </p:txBody>
      </p:sp>
      <p:sp>
        <p:nvSpPr>
          <p:cNvPr id="10" name="Formula card 3"/>
          <p:cNvSpPr/>
          <p:nvPr/>
        </p:nvSpPr>
        <p:spPr>
          <a:xfrm>
            <a:off x="457200" y="3008376"/>
            <a:ext cx="429768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3081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Team margin % (not an average)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3741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(Revenue − Cost) ÷ Revenue</a:t>
            </a:r>
            <a:endParaRPr lang="en-US" sz="1800" dirty="0"/>
          </a:p>
        </p:txBody>
      </p:sp>
      <p:sp>
        <p:nvSpPr>
          <p:cNvPr id="13" name="Example card"/>
          <p:cNvSpPr/>
          <p:nvPr/>
        </p:nvSpPr>
        <p:spPr>
          <a:xfrm>
            <a:off x="5029200" y="1234440"/>
            <a:ext cx="3657600" cy="251460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2578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Worked example: Genus cost 1,800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Rate 2,694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257800" y="21945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33.18%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525780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margin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Rate 2,500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21945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28.00%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2971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margin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2578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A lower rate drops it into amber.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Colour bands</a:t>
            </a:r>
            <a:endParaRPr lang="en-US" sz="1400" dirty="0"/>
          </a:p>
        </p:txBody>
      </p:sp>
      <p:sp>
        <p:nvSpPr>
          <p:cNvPr id="23" name="Band dot 1"/>
          <p:cNvSpPr/>
          <p:nvPr/>
        </p:nvSpPr>
        <p:spPr>
          <a:xfrm>
            <a:off x="1828800" y="4087368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084832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Red: below 20%</a:t>
            </a:r>
            <a:endParaRPr lang="en-US" sz="1400" dirty="0"/>
          </a:p>
        </p:txBody>
      </p:sp>
      <p:sp>
        <p:nvSpPr>
          <p:cNvPr id="25" name="Band dot 2"/>
          <p:cNvSpPr/>
          <p:nvPr/>
        </p:nvSpPr>
        <p:spPr>
          <a:xfrm>
            <a:off x="4023360" y="4087368"/>
            <a:ext cx="146304" cy="14630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279392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Amber: 20% to 30%</a:t>
            </a:r>
            <a:endParaRPr lang="en-US" sz="1400" dirty="0"/>
          </a:p>
        </p:txBody>
      </p:sp>
      <p:sp>
        <p:nvSpPr>
          <p:cNvPr id="27" name="Band dot 3"/>
          <p:cNvSpPr/>
          <p:nvPr/>
        </p:nvSpPr>
        <p:spPr>
          <a:xfrm>
            <a:off x="6217920" y="4087368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73952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Green: 30% and above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Cut-offs are placeholders until real targets are agreed.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The Calculator</a:t>
            </a:r>
            <a:endParaRPr lang="en-US" sz="3600" dirty="0"/>
          </a:p>
        </p:txBody>
      </p:sp>
      <p:sp>
        <p:nvSpPr>
          <p:cNvPr id="4" name="People table card"/>
          <p:cNvSpPr/>
          <p:nvPr/>
        </p:nvSpPr>
        <p:spPr>
          <a:xfrm>
            <a:off x="457200" y="128016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People table circle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eople table icon" descr="People 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520190"/>
            <a:ext cx="205740" cy="2057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People table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385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Search, sort and filter, with a total row and vs-baseline column</a:t>
            </a:r>
            <a:endParaRPr lang="en-US" sz="1400" dirty="0"/>
          </a:p>
        </p:txBody>
      </p:sp>
      <p:sp>
        <p:nvSpPr>
          <p:cNvPr id="9" name="Live sliders card"/>
          <p:cNvSpPr/>
          <p:nvPr/>
        </p:nvSpPr>
        <p:spPr>
          <a:xfrm>
            <a:off x="3246120" y="128016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0" name="Live sliders circle"/>
          <p:cNvSpPr/>
          <p:nvPr/>
        </p:nvSpPr>
        <p:spPr>
          <a:xfrm>
            <a:off x="338328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Live sliders icon" descr="Live slid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150" y="1520190"/>
            <a:ext cx="205740" cy="2057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3192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Live sliders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383280" y="19385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Move rate, experience or cost and margin updates instantly</a:t>
            </a:r>
            <a:endParaRPr lang="en-US" sz="1400" dirty="0"/>
          </a:p>
        </p:txBody>
      </p:sp>
      <p:sp>
        <p:nvSpPr>
          <p:cNvPr id="14" name="Target margin card"/>
          <p:cNvSpPr/>
          <p:nvPr/>
        </p:nvSpPr>
        <p:spPr>
          <a:xfrm>
            <a:off x="6035040" y="128016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5" name="Target margin circle"/>
          <p:cNvSpPr/>
          <p:nvPr/>
        </p:nvSpPr>
        <p:spPr>
          <a:xfrm>
            <a:off x="6172200" y="14173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Target margin icon" descr="Target marg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070" y="1520190"/>
            <a:ext cx="205740" cy="2057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2084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Target margin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19385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Pick the margin you want and the rate follows</a:t>
            </a:r>
            <a:endParaRPr lang="en-US" sz="1400" dirty="0"/>
          </a:p>
        </p:txBody>
      </p:sp>
      <p:sp>
        <p:nvSpPr>
          <p:cNvPr id="19" name="Quick buttons card"/>
          <p:cNvSpPr/>
          <p:nvPr/>
        </p:nvSpPr>
        <p:spPr>
          <a:xfrm>
            <a:off x="457200" y="288036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0" name="Quick buttons circle"/>
          <p:cNvSpPr/>
          <p:nvPr/>
        </p:nvSpPr>
        <p:spPr>
          <a:xfrm>
            <a:off x="594360" y="30175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Quick buttons icon" descr="Quick button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" y="3120390"/>
            <a:ext cx="205740" cy="2057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Quick buttons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94360" y="3538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Rate ±5%, break-even, or reach a Good margin</a:t>
            </a:r>
            <a:endParaRPr lang="en-US" sz="1400" dirty="0"/>
          </a:p>
        </p:txBody>
      </p:sp>
      <p:sp>
        <p:nvSpPr>
          <p:cNvPr id="24" name="Bulk adjust card"/>
          <p:cNvSpPr/>
          <p:nvPr/>
        </p:nvSpPr>
        <p:spPr>
          <a:xfrm>
            <a:off x="3246120" y="288036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5" name="Bulk adjust circle"/>
          <p:cNvSpPr/>
          <p:nvPr/>
        </p:nvSpPr>
        <p:spPr>
          <a:xfrm>
            <a:off x="3383280" y="30175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Bulk adjust icon" descr="Bulk adjus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6150" y="3120390"/>
            <a:ext cx="205740" cy="20574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93192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Bulk adjust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3383280" y="3538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Change everyone shown by a percentage, with Undo</a:t>
            </a:r>
            <a:endParaRPr lang="en-US" sz="1400" dirty="0"/>
          </a:p>
        </p:txBody>
      </p:sp>
      <p:sp>
        <p:nvSpPr>
          <p:cNvPr id="29" name="Warnings card"/>
          <p:cNvSpPr/>
          <p:nvPr/>
        </p:nvSpPr>
        <p:spPr>
          <a:xfrm>
            <a:off x="6035040" y="288036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30" name="Warnings circle"/>
          <p:cNvSpPr/>
          <p:nvPr/>
        </p:nvSpPr>
        <p:spPr>
          <a:xfrm>
            <a:off x="6172200" y="30175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Warnings icon" descr="Warning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5070" y="3120390"/>
            <a:ext cx="205740" cy="20574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72084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Warnings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6172200" y="3538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Flags unknown roles, rate below cost and bad imports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Scenarios and Insights</a:t>
            </a:r>
            <a:endParaRPr lang="en-US" sz="3600" dirty="0"/>
          </a:p>
        </p:txBody>
      </p:sp>
      <p:sp>
        <p:nvSpPr>
          <p:cNvPr id="4" name="Scenarios card"/>
          <p:cNvSpPr/>
          <p:nvPr/>
        </p:nvSpPr>
        <p:spPr>
          <a:xfrm>
            <a:off x="457200" y="1234440"/>
            <a:ext cx="35661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5" name="Scenarios circle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cenarios icon" descr="Scenari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54305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1417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Scenarios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Try changes without losing the original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4688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Save any set of changes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baseline, current or a saved scenario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 with automatic backup and Undo</a:t>
            </a:r>
            <a:endParaRPr lang="en-US" sz="1400" dirty="0"/>
          </a:p>
        </p:txBody>
      </p:sp>
      <p:sp>
        <p:nvSpPr>
          <p:cNvPr id="10" name="Insights card"/>
          <p:cNvSpPr/>
          <p:nvPr/>
        </p:nvSpPr>
        <p:spPr>
          <a:xfrm>
            <a:off x="4206240" y="1234440"/>
            <a:ext cx="44805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11" name="Insights circle"/>
          <p:cNvSpPr/>
          <p:nvPr/>
        </p:nvSpPr>
        <p:spPr>
          <a:xfrm>
            <a:off x="443484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nsights icon" descr="Insigh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570" y="154305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20640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Insights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443484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 managers and administrators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434840" y="24688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Margin distribution across the team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Revenue-to-margin waterfall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Team mix what-if: add, remove or swap people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Sensitivity of margin to rates and costs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Target solver: the rate or allocation that reaches a goal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Who can see what</a:t>
            </a:r>
            <a:endParaRPr lang="en-US" sz="3600" dirty="0"/>
          </a:p>
        </p:txBody>
      </p:sp>
      <p:sp>
        <p:nvSpPr>
          <p:cNvPr id="4" name="Manager card"/>
          <p:cNvSpPr/>
          <p:nvPr/>
        </p:nvSpPr>
        <p:spPr>
          <a:xfrm>
            <a:off x="457200" y="1188720"/>
            <a:ext cx="26517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5" name="Manager circle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anager icon" descr="Manag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1428750"/>
            <a:ext cx="205740" cy="2057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Manager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74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Creates and edits own teams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Shares teams, saves scenarios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Uploads Genus tables for approval</a:t>
            </a:r>
            <a:endParaRPr lang="en-US" sz="1400" dirty="0"/>
          </a:p>
        </p:txBody>
      </p:sp>
      <p:sp>
        <p:nvSpPr>
          <p:cNvPr id="9" name="Administrator card"/>
          <p:cNvSpPr/>
          <p:nvPr/>
        </p:nvSpPr>
        <p:spPr>
          <a:xfrm>
            <a:off x="3246120" y="1188720"/>
            <a:ext cx="26517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Administrator circle"/>
          <p:cNvSpPr/>
          <p:nvPr/>
        </p:nvSpPr>
        <p:spPr>
          <a:xfrm>
            <a:off x="3383280" y="1325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Administrator icon" descr="Administra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150" y="1428750"/>
            <a:ext cx="205740" cy="2057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3192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Administrator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383280" y="1874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Sees every team except Private ones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Approves Genus tables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Manages users, holidays, audit log</a:t>
            </a:r>
            <a:endParaRPr lang="en-US" sz="1400" dirty="0"/>
          </a:p>
        </p:txBody>
      </p:sp>
      <p:sp>
        <p:nvSpPr>
          <p:cNvPr id="14" name="Sharing card"/>
          <p:cNvSpPr/>
          <p:nvPr/>
        </p:nvSpPr>
        <p:spPr>
          <a:xfrm>
            <a:off x="6035040" y="1188720"/>
            <a:ext cx="265176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5" name="Sharing circle"/>
          <p:cNvSpPr/>
          <p:nvPr/>
        </p:nvSpPr>
        <p:spPr>
          <a:xfrm>
            <a:off x="6172200" y="1325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Sharing icon" descr="Sha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070" y="1428750"/>
            <a:ext cx="205740" cy="2057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2084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Sharing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1874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Share by work email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Can edit or View only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Private teams hidden from admins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Genus cost tables are versioned and need a second administrator's approval</a:t>
            </a:r>
            <a:endParaRPr lang="en-US" sz="1400" dirty="0"/>
          </a:p>
        </p:txBody>
      </p:sp>
      <p:sp>
        <p:nvSpPr>
          <p:cNvPr id="20" name="Flow step 1"/>
          <p:cNvSpPr/>
          <p:nvPr/>
        </p:nvSpPr>
        <p:spPr>
          <a:xfrm>
            <a:off x="457200" y="3840480"/>
            <a:ext cx="178308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548640" y="3840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Upload</a:t>
            </a:r>
            <a:endParaRPr lang="en-US" sz="1400" dirty="0"/>
          </a:p>
        </p:txBody>
      </p:sp>
      <p:sp>
        <p:nvSpPr>
          <p:cNvPr id="22" name="Flow arrow 1"/>
          <p:cNvSpPr/>
          <p:nvPr/>
        </p:nvSpPr>
        <p:spPr>
          <a:xfrm>
            <a:off x="2295144" y="4023360"/>
            <a:ext cx="25603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3" name="Flow step 2"/>
          <p:cNvSpPr/>
          <p:nvPr/>
        </p:nvSpPr>
        <p:spPr>
          <a:xfrm>
            <a:off x="2606040" y="3840480"/>
            <a:ext cx="178308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2697480" y="3840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Pending</a:t>
            </a:r>
            <a:endParaRPr lang="en-US" sz="1400" dirty="0"/>
          </a:p>
        </p:txBody>
      </p:sp>
      <p:sp>
        <p:nvSpPr>
          <p:cNvPr id="25" name="Flow arrow 2"/>
          <p:cNvSpPr/>
          <p:nvPr/>
        </p:nvSpPr>
        <p:spPr>
          <a:xfrm>
            <a:off x="4443984" y="4023360"/>
            <a:ext cx="25603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6" name="Flow step 3"/>
          <p:cNvSpPr/>
          <p:nvPr/>
        </p:nvSpPr>
        <p:spPr>
          <a:xfrm>
            <a:off x="4754880" y="3840480"/>
            <a:ext cx="178308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4846320" y="3840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Different admin approves</a:t>
            </a:r>
            <a:endParaRPr lang="en-US" sz="1400" dirty="0"/>
          </a:p>
        </p:txBody>
      </p:sp>
      <p:sp>
        <p:nvSpPr>
          <p:cNvPr id="28" name="Flow arrow 3"/>
          <p:cNvSpPr/>
          <p:nvPr/>
        </p:nvSpPr>
        <p:spPr>
          <a:xfrm>
            <a:off x="6592824" y="4023360"/>
            <a:ext cx="25603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9" name="Flow step 4"/>
          <p:cNvSpPr/>
          <p:nvPr/>
        </p:nvSpPr>
        <p:spPr>
          <a:xfrm>
            <a:off x="6903720" y="3840480"/>
            <a:ext cx="178308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6995160" y="3840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Active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 is built</a:t>
            </a:r>
            <a:endParaRPr lang="en-US" sz="3600" dirty="0"/>
          </a:p>
        </p:txBody>
      </p:sp>
      <p:sp>
        <p:nvSpPr>
          <p:cNvPr id="4" name="Browser box"/>
          <p:cNvSpPr/>
          <p:nvPr/>
        </p:nvSpPr>
        <p:spPr>
          <a:xfrm>
            <a:off x="457200" y="1234440"/>
            <a:ext cx="2286000" cy="192024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/>
        </p:spPr>
      </p:sp>
      <p:sp>
        <p:nvSpPr>
          <p:cNvPr id="5" name="Browser circl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Browser icon" descr="Brow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1984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Browser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331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Plain HTML, CSS and JavaScript. No build step, no CDNs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>
            <a:off x="2834640" y="2011680"/>
            <a:ext cx="411480" cy="36576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0" name="Server box"/>
          <p:cNvSpPr/>
          <p:nvPr/>
        </p:nvSpPr>
        <p:spPr>
          <a:xfrm>
            <a:off x="3429000" y="1234440"/>
            <a:ext cx="2286000" cy="192024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/>
        </p:spPr>
      </p:sp>
      <p:sp>
        <p:nvSpPr>
          <p:cNvPr id="11" name="Server circle"/>
          <p:cNvSpPr/>
          <p:nvPr/>
        </p:nvSpPr>
        <p:spPr>
          <a:xfrm>
            <a:off x="3611880" y="1417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Server icon" descr="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6180" y="15316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11880" y="1984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Server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611880" y="2331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Python FastAPI. Margin rules live in calc.py and analysis.py</a:t>
            </a:r>
            <a:endParaRPr lang="en-US" sz="1400" dirty="0"/>
          </a:p>
        </p:txBody>
      </p:sp>
      <p:sp>
        <p:nvSpPr>
          <p:cNvPr id="15" name="Arrow 2"/>
          <p:cNvSpPr/>
          <p:nvPr/>
        </p:nvSpPr>
        <p:spPr>
          <a:xfrm>
            <a:off x="5806440" y="2011680"/>
            <a:ext cx="411480" cy="36576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6" name="Database box"/>
          <p:cNvSpPr/>
          <p:nvPr/>
        </p:nvSpPr>
        <p:spPr>
          <a:xfrm>
            <a:off x="6400800" y="1234440"/>
            <a:ext cx="2286000" cy="192024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/>
        </p:spPr>
      </p:sp>
      <p:sp>
        <p:nvSpPr>
          <p:cNvPr id="17" name="Database circle"/>
          <p:cNvSpPr/>
          <p:nvPr/>
        </p:nvSpPr>
        <p:spPr>
          <a:xfrm>
            <a:off x="6583680" y="1417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Database icon" descr="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153162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83680" y="1984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Database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6583680" y="23317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SQLite by default, PostgreSQL for a shared server</a:t>
            </a:r>
            <a:endParaRPr lang="en-US" sz="1400" dirty="0"/>
          </a:p>
        </p:txBody>
      </p:sp>
      <p:sp>
        <p:nvSpPr>
          <p:cNvPr id="21" name="Sign-in modes card"/>
          <p:cNvSpPr/>
          <p:nvPr/>
        </p:nvSpPr>
        <p:spPr>
          <a:xfrm>
            <a:off x="457200" y="3429000"/>
            <a:ext cx="26517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59436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Sign-in modes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9436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Work email for demos, company SSO for real use</a:t>
            </a:r>
            <a:endParaRPr lang="en-US" sz="1400" dirty="0"/>
          </a:p>
        </p:txBody>
      </p:sp>
      <p:sp>
        <p:nvSpPr>
          <p:cNvPr id="24" name="Seed data card"/>
          <p:cNvSpPr/>
          <p:nvPr/>
        </p:nvSpPr>
        <p:spPr>
          <a:xfrm>
            <a:off x="3246120" y="3429000"/>
            <a:ext cx="26517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338328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Seed data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338328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Two Excel sheets, anonymised and simulated</a:t>
            </a:r>
            <a:endParaRPr lang="en-US" sz="1400" dirty="0"/>
          </a:p>
        </p:txBody>
      </p:sp>
      <p:sp>
        <p:nvSpPr>
          <p:cNvPr id="27" name="Quality card"/>
          <p:cNvSpPr/>
          <p:nvPr/>
        </p:nvSpPr>
        <p:spPr>
          <a:xfrm>
            <a:off x="6035040" y="3429000"/>
            <a:ext cx="26517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17220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Quality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17220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tests run on every push in GitLab CI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Where it is headed</a:t>
            </a:r>
            <a:endParaRPr lang="en-US" sz="3600" dirty="0"/>
          </a:p>
        </p:txBody>
      </p:sp>
      <p:sp>
        <p:nvSpPr>
          <p:cNvPr id="4" name="Chatbot assistant card"/>
          <p:cNvSpPr/>
          <p:nvPr/>
        </p:nvSpPr>
        <p:spPr>
          <a:xfrm>
            <a:off x="457200" y="123444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Chatbot assistant circle"/>
          <p:cNvSpPr/>
          <p:nvPr/>
        </p:nvSpPr>
        <p:spPr>
          <a:xfrm>
            <a:off x="59436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hatbot assistant icon" descr="Chatbot assista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57734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Chatbot assistant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16184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Ask questions about a team in plain English</a:t>
            </a:r>
            <a:endParaRPr lang="en-US" sz="1400" dirty="0"/>
          </a:p>
        </p:txBody>
      </p:sp>
      <p:sp>
        <p:nvSpPr>
          <p:cNvPr id="9" name="History of clients and people card"/>
          <p:cNvSpPr/>
          <p:nvPr/>
        </p:nvSpPr>
        <p:spPr>
          <a:xfrm>
            <a:off x="457200" y="228600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History of clients and people circle"/>
          <p:cNvSpPr/>
          <p:nvPr/>
        </p:nvSpPr>
        <p:spPr>
          <a:xfrm>
            <a:off x="594360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History of clients and people icon" descr="History of clients and peop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62890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History of clients and people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2670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Rates, revisions, cost and role changes over time</a:t>
            </a:r>
            <a:endParaRPr lang="en-US" sz="1400" dirty="0"/>
          </a:p>
        </p:txBody>
      </p:sp>
      <p:sp>
        <p:nvSpPr>
          <p:cNvPr id="14" name="Models to maximise margin card"/>
          <p:cNvSpPr/>
          <p:nvPr/>
        </p:nvSpPr>
        <p:spPr>
          <a:xfrm>
            <a:off x="457200" y="333756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Models to maximise margin circle"/>
          <p:cNvSpPr/>
          <p:nvPr/>
        </p:nvSpPr>
        <p:spPr>
          <a:xfrm>
            <a:off x="594360" y="3566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Models to maximise margin icon" descr="Models to maximise marg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68046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Models to maximise margin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234440" y="3721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Rate advice, team mix, forecasts, early warnings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343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Limits card"/>
          <p:cNvSpPr/>
          <p:nvPr/>
        </p:nvSpPr>
        <p:spPr>
          <a:xfrm>
            <a:off x="4846320" y="1234440"/>
            <a:ext cx="384048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507492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Known limits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5074920" y="19202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Margin is before overheads, bench time and benefits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rate and one cost per person, with no future changes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Hide cost is a display setting, not security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SSO sign-in is not yet tested with a real provider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gin Calculator">
  <a:themeElements>
    <a:clrScheme name="Margin Calculator">
      <a:dk1>
        <a:srgbClr val="1B1A38"/>
      </a:dk1>
      <a:lt1>
        <a:srgbClr val="FFFFFF"/>
      </a:lt1>
      <a:dk2>
        <a:srgbClr val="04003B"/>
      </a:dk2>
      <a:lt2>
        <a:srgbClr val="F3F3F5"/>
      </a:lt2>
      <a:accent1>
        <a:srgbClr val="26226B"/>
      </a:accent1>
      <a:accent2>
        <a:srgbClr val="6DD6B4"/>
      </a:accent2>
      <a:accent3>
        <a:srgbClr val="2E9C7B"/>
      </a:accent3>
      <a:accent4>
        <a:srgbClr val="B7B6D9"/>
      </a:accent4>
      <a:accent5>
        <a:srgbClr val="D2A03A"/>
      </a:accent5>
      <a:accent6>
        <a:srgbClr val="B3382F"/>
      </a:accent6>
      <a:hlink>
        <a:srgbClr val="26226B"/>
      </a:hlink>
      <a:folHlink>
        <a:srgbClr val="48475F"/>
      </a:folHlink>
    </a:clrScheme>
    <a:fontScheme name="Margin Calcula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855</Words>
  <Application>Microsoft Office PowerPoint</Application>
  <PresentationFormat>On-screen Show (16:9)</PresentationFormat>
  <Paragraphs>130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Margin Calculator</vt:lpstr>
      <vt:lpstr>Margin What-If Calculator</vt:lpstr>
      <vt:lpstr>What it does</vt:lpstr>
      <vt:lpstr>How margin is worked out</vt:lpstr>
      <vt:lpstr>The Calculator</vt:lpstr>
      <vt:lpstr>Scenarios and Insights</vt:lpstr>
      <vt:lpstr>Who can see what</vt:lpstr>
      <vt:lpstr>How it is built</vt:lpstr>
      <vt:lpstr>Where it is headed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Margin What-If Calculator: project overview</dc:title>
  <dc:subject>PptxGenJS Presentation</dc:subject>
  <dc:creator>PptxGenJS</dc:creator>
  <cp:lastModifiedBy>User</cp:lastModifiedBy>
  <cp:revision>2</cp:revision>
  <dcterms:created xsi:type="dcterms:W3CDTF">2026-10-15T14:20:59Z</dcterms:created>
  <dcterms:modified xsi:type="dcterms:W3CDTF">2026-10-15T14:26:58Z</dcterms:modified>
</cp:coreProperties>
</file>